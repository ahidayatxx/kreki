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Value-Based Digital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Innovation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764BA2"/>
                </a:solidFill>
              </a:defRPr>
            </a:pPr>
            <a:r>
              <a:t>VDHIC - Instruction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486400"/>
            <a:ext cx="64008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/>
          <a:lstStyle/>
          <a:p>
            <a:pPr algn="ctr">
              <a:defRPr sz="1800" b="1"/>
            </a:pPr>
            <a:r>
              <a:t>From Problem to Impact: Navigating Indonesia's Digital Health Ecosystem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Featuring the Quintuple Aim Framework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Australia Awards Fellowship 2025 • Monash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What is VDHIC?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64008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t>The Value-Based Digital Health Innovation Canvas (VDHIC) transforms the Indonesia Digital Health Transformation Toolkit into a practical, actionable tool for innovators.</a:t>
            </a:r>
          </a:p>
          <a:p>
            <a:pPr>
              <a:defRPr sz="2000"/>
            </a:pPr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t>Purpose:</a:t>
            </a:r>
          </a:p>
          <a:p>
            <a:pPr lvl="1">
              <a:defRPr sz="1800"/>
            </a:pPr>
            <a:r>
              <a:t>• Structured framework for digital health innovation in Indonesia</a:t>
            </a:r>
          </a:p>
          <a:p>
            <a:pPr lvl="1">
              <a:defRPr sz="1800"/>
            </a:pPr>
            <a:r>
              <a:t>• Embed governance considerations from the start</a:t>
            </a:r>
          </a:p>
          <a:p>
            <a:pPr lvl="1">
              <a:defRPr sz="1800"/>
            </a:pPr>
            <a:r>
              <a:t>• Facilitate multi-stakeholder dialogue</a:t>
            </a:r>
          </a:p>
          <a:p>
            <a:pPr lvl="1">
              <a:defRPr sz="1800"/>
            </a:pPr>
            <a:r>
              <a:t>• Bridge design to implementation gap</a:t>
            </a:r>
          </a:p>
          <a:p>
            <a:pPr lvl="1">
              <a:defRPr sz="1800"/>
            </a:pPr>
            <a:r>
              <a:t>• Support regulatory sandbox applications</a:t>
            </a:r>
          </a:p>
          <a:p>
            <a:pPr lvl="1">
              <a:defRPr sz="1800"/>
            </a:pPr>
            <a:r>
              <a:t>• Align with Quintuple Aim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Canvas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Four integrated layers forming a comprehensive innovation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657600" cy="1828800"/>
          </a:xfrm>
          <a:prstGeom prst="round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 Governance Spine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Four governance blocks forming the comprehensive compliance framework ensuring safety and regulatory adherence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286000"/>
            <a:ext cx="3657600" cy="18288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Main Canvas Grid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Nine blocks organized in three phases: Discover → Design → Deliver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3657600" cy="1828800"/>
          </a:xfrm>
          <a:prstGeom prst="round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⚖️ Value Anchor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Five Quintuple Aim outcome indicators measuring comprehensive value 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657600" cy="18288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 Innovation Phases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Systematic progression from problem identification through solution design to market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Innovation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🔍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Health Challenge</a:t>
            </a:r>
          </a:p>
          <a:p>
            <a:pPr>
              <a:defRPr sz="1600"/>
            </a:pPr>
            <a:r>
              <a:t>• User Profiles</a:t>
            </a:r>
          </a:p>
          <a:p>
            <a:pPr>
              <a:defRPr sz="1600"/>
            </a:pPr>
            <a:r>
              <a:t>• Stakeholder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Understanding the problem space before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🎨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Solution Architecture</a:t>
            </a:r>
          </a:p>
          <a:p>
            <a:pPr>
              <a:defRPr sz="1600"/>
            </a:pPr>
            <a:r>
              <a:t>• User Experience</a:t>
            </a:r>
          </a:p>
          <a:p>
            <a:pPr>
              <a:defRPr sz="1600"/>
            </a:pPr>
            <a:r>
              <a:t>• SATUSEHAT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5720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Translating insights into concrete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🚀 DELIVER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6032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Evidence Plan</a:t>
            </a:r>
          </a:p>
          <a:p>
            <a:pPr>
              <a:defRPr sz="1600"/>
            </a:pPr>
            <a:r>
              <a:t>• Scale Strategy</a:t>
            </a:r>
          </a:p>
          <a:p>
            <a:pPr>
              <a:defRPr sz="1600"/>
            </a:pPr>
            <a:r>
              <a:t>• Business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5720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Validation, scaling, and sustainability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The Quintuple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Every innovation must demonstrate clear alignment with these five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371600" cy="2743200"/>
          </a:xfrm>
          <a:prstGeom prst="rect">
            <a:avLst/>
          </a:prstGeom>
          <a:solidFill>
            <a:srgbClr val="F557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🏥 Population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Health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Clinical outcomes at population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2286000"/>
            <a:ext cx="1371600" cy="2743200"/>
          </a:xfrm>
          <a:prstGeom prst="rect">
            <a:avLst/>
          </a:prstGeom>
          <a:solidFill>
            <a:srgbClr val="4FAC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😊 Patient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Experience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Satisfaction &amp;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286000"/>
            <a:ext cx="1371600" cy="2743200"/>
          </a:xfrm>
          <a:prstGeom prst="rect">
            <a:avLst/>
          </a:prstGeom>
          <a:solidFill>
            <a:srgbClr val="43E9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👨‍⚕️ Provider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Satisfaction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Clinician workflow improvement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286000"/>
            <a:ext cx="1371600" cy="2743200"/>
          </a:xfrm>
          <a:prstGeom prst="rect">
            <a:avLst/>
          </a:prstGeom>
          <a:solidFill>
            <a:srgbClr val="FA70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💰 Cost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Reduction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Efficiency gains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1371600" cy="2743200"/>
          </a:xfrm>
          <a:prstGeom prst="rect">
            <a:avLst/>
          </a:prstGeom>
          <a:solidFill>
            <a:srgbClr val="30CF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⚖️ Health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Equity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Reduce healthcare disparities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