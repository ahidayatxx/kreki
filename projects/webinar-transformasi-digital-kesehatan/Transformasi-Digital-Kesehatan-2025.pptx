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Program Cek Kesehatan Gratis (Juta Orang)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Program Cek Kesehatan</c:v>
                </c:pt>
              </c:strCache>
            </c:strRef>
          </c:tx>
          <c:spPr>
            <a:solidFill>
              <a:srgbClr val="4E9F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E9F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512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2026 (Target)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70.8</c:v>
                </c:pt>
                <c:pt idx="1">
                  <c:v>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Tahun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Juta Orang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Kesenjangan Infrastruktur Digital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Infrastruktur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Puskesmas</c:v>
                  </c:pt>
                  <c:pt idx="1">
                    <c:v>Sekolah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Persentase Belum Terhubung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Tipe Fasilitas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Gap Kapasitas SDM Digital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Kapasitas Saat Ini</c:v>
                </c:pt>
              </c:strCache>
            </c:strRef>
          </c:tx>
          <c:spPr>
            <a:solidFill>
              <a:srgbClr val="4E9F3D"/>
            </a:solidFill>
            <a:ln w="38100" cap="flat">
              <a:solidFill>
                <a:srgbClr val="4E9F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E9F3D"/>
              </a:solidFill>
              <a:ln w="9525" cap="flat">
                <a:solidFill>
                  <a:srgbClr val="4E9F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42</c:v>
                </c:pt>
                <c:pt idx="2">
                  <c:v>45</c:v>
                </c:pt>
                <c:pt idx="3">
                  <c:v>48</c:v>
                </c:pt>
                <c:pt idx="4">
                  <c:v>52</c:v>
                </c:pt>
                <c:pt idx="5">
                  <c:v>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Kebutuhan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65</c:v>
                </c:pt>
                <c:pt idx="2">
                  <c:v>70</c:v>
                </c:pt>
                <c:pt idx="3">
                  <c:v>78</c:v>
                </c:pt>
                <c:pt idx="4">
                  <c:v>85</c:v>
                </c:pt>
                <c:pt idx="5">
                  <c:v>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Tahun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3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Indeks Kapasitas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-234702"/>
            <a:ext cx="8290661" cy="174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Digital Kesehatan Indonesia: Di Persimpangan Kritis 2025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41489" y="1762274"/>
            <a:ext cx="54610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Connectivity to Capability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11224" y="3314700"/>
            <a:ext cx="27214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Ahmad Hidayat, M.Sc., MBA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11224" y="3790950"/>
            <a:ext cx="27214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TWG SATUSEHAT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11224" y="4267200"/>
            <a:ext cx="27214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Januari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6326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Presentasi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730597"/>
            <a:ext cx="8128099" cy="1133177"/>
          </a:xfrm>
          <a:prstGeom prst="roundRect">
            <a:avLst>
              <a:gd name="adj" fmla="val 672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730597"/>
            <a:ext cx="0" cy="1133177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7076" y="1111448"/>
            <a:ext cx="3886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39577" y="1211461"/>
            <a:ext cx="28159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telah tercapai dan berubah?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1914525"/>
            <a:ext cx="8128099" cy="1133177"/>
          </a:xfrm>
          <a:prstGeom prst="roundRect">
            <a:avLst>
              <a:gd name="adj" fmla="val 672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1914525"/>
            <a:ext cx="0" cy="1133177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076" y="2295376"/>
            <a:ext cx="3886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39577" y="2395389"/>
            <a:ext cx="25969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apa yang menghadang?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3098453"/>
            <a:ext cx="8128099" cy="1133177"/>
          </a:xfrm>
          <a:prstGeom prst="roundRect">
            <a:avLst>
              <a:gd name="adj" fmla="val 672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1763" y="3098453"/>
            <a:ext cx="0" cy="1133177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076" y="3479304"/>
            <a:ext cx="3886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39577" y="3579316"/>
            <a:ext cx="24967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melangkah ke depan?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6326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yang Telah Dibangun (2024)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2003375"/>
            <a:ext cx="29015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SATUSEHAT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2238226"/>
            <a:ext cx="2844701" cy="568523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800" dirty="0"/>
          </a:p>
          <a:p>
            <a:pPr algn="l" marL="63500" indent="-63500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FHIR resources</a:t>
            </a:r>
            <a:endParaRPr lang="en-US" sz="800" dirty="0"/>
          </a:p>
          <a:p>
            <a:pPr algn="l" marL="63500" indent="-63500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Standardisasi terminologi</a:t>
            </a:r>
            <a:endParaRPr lang="en-US" sz="800" dirty="0"/>
          </a:p>
          <a:p>
            <a:pPr algn="l" marL="63500" indent="-63500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registrasi terstandar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Ekosistem Digital yang Memberdayakan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355527"/>
            <a:ext cx="3937099" cy="1576536"/>
          </a:xfrm>
          <a:prstGeom prst="roundRect">
            <a:avLst>
              <a:gd name="adj" fmla="val 966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355527"/>
            <a:ext cx="0" cy="1576536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1699468"/>
            <a:ext cx="3420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SATUSEHAT Mobile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051" y="2093119"/>
            <a:ext cx="3420160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data pribadi kesehatan untuk masyarakat umum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98950" y="1355527"/>
            <a:ext cx="3937099" cy="1576536"/>
          </a:xfrm>
          <a:prstGeom prst="roundRect">
            <a:avLst>
              <a:gd name="adj" fmla="val 966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37050" y="1355527"/>
            <a:ext cx="0" cy="1576536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051" y="1699468"/>
            <a:ext cx="3420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051" y="2093119"/>
            <a:ext cx="3420160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Pengumpulan data berbasis komunitas untuk surveilans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950" y="3185964"/>
            <a:ext cx="3937099" cy="1576536"/>
          </a:xfrm>
          <a:prstGeom prst="roundRect">
            <a:avLst>
              <a:gd name="adj" fmla="val 966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6050" y="3185964"/>
            <a:ext cx="0" cy="1576536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051" y="3529905"/>
            <a:ext cx="3420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SATUSEHAT Dashboard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051" y="3923556"/>
            <a:ext cx="3420160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 untuk pembuat kebijakan kesehatan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98950" y="3185964"/>
            <a:ext cx="3937099" cy="1576536"/>
          </a:xfrm>
          <a:prstGeom prst="roundRect">
            <a:avLst>
              <a:gd name="adj" fmla="val 966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37050" y="3185964"/>
            <a:ext cx="0" cy="1576536"/>
          </a:xfrm>
          <a:prstGeom prst="line">
            <a:avLst/>
          </a:prstGeom>
          <a:noFill/>
          <a:ln w="76200">
            <a:solidFill>
              <a:srgbClr val="4E9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051" y="3529905"/>
            <a:ext cx="3420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RME Terintegrasi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051" y="3923556"/>
            <a:ext cx="3420160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untuk semua faskes di seluruh Indonesia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775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2025: Tahun Transisi dan Tantangan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79252"/>
            <a:ext cx="3968800" cy="3448348"/>
          </a:xfrm>
          <a:prstGeom prst="roundRect">
            <a:avLst>
              <a:gd name="adj" fmla="val 368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679252"/>
            <a:ext cx="0" cy="3448348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5600" y="869752"/>
            <a:ext cx="36012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5600" y="1234827"/>
            <a:ext cx="3530650" cy="270227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Pemerintahan baru: Asta Cita &amp; Indonesia Emas 2045</a:t>
            </a:r>
            <a:endParaRPr lang="en-US" sz="1100" dirty="0"/>
          </a:p>
          <a:p>
            <a:pPr algn="l" marL="95250" indent="-9525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RPJMN 2025-2029: 141 indikator kesehatan (6 terkait data digital)</a:t>
            </a:r>
            <a:endParaRPr lang="en-US" sz="1100" dirty="0"/>
          </a:p>
          <a:p>
            <a:pPr algn="l" marL="95250" indent="-9525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Renstra Kemenkes 2025-2029 (PMK 12/2025)</a:t>
            </a:r>
            <a:endParaRPr lang="en-US" sz="1100" dirty="0"/>
          </a:p>
          <a:p>
            <a:pPr algn="l" marL="95250" indent="-9525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Jalan SATUSEHAT SDMK 2025-2029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7250" y="679252"/>
            <a:ext cx="3968800" cy="3448348"/>
          </a:xfrm>
          <a:prstGeom prst="roundRect">
            <a:avLst>
              <a:gd name="adj" fmla="val 3683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95825" y="679252"/>
            <a:ext cx="0" cy="3448348"/>
          </a:xfrm>
          <a:prstGeom prst="line">
            <a:avLst/>
          </a:prstGeom>
          <a:noFill/>
          <a:ln w="571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4900" y="869752"/>
            <a:ext cx="36012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14900" y="1234827"/>
            <a:ext cx="3530650" cy="270227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Penghentian dukungan USAID</a:t>
            </a:r>
            <a:endParaRPr lang="en-US" sz="1100" dirty="0"/>
          </a:p>
          <a:p>
            <a:pPr algn="l" marL="95250" indent="-9525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Perubahan SOTK Kementerian Kesehatan</a:t>
            </a:r>
            <a:endParaRPr lang="en-US" sz="1100" dirty="0"/>
          </a:p>
          <a:p>
            <a:pPr algn="l" marL="95250" indent="-9525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Restrukturisasi Pusdatin</a:t>
            </a:r>
            <a:endParaRPr lang="en-US" sz="1100" dirty="0"/>
          </a:p>
          <a:p>
            <a:pPr algn="l" marL="95250" indent="-9525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 → TTDK (personel lebih terbatas)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 Keberlanjutan: Program 2025-2026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891010"/>
            <a:ext cx="37307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Konkret yang Tetap Berjalan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2227511"/>
            <a:ext cx="3657600" cy="65960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Cek Kesehatan Gratis</a:t>
            </a:r>
            <a:endParaRPr lang="en-US" sz="1000" dirty="0"/>
          </a:p>
          <a:p>
            <a:pPr algn="l" marL="95250" indent="-9525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Skrining BPJS Kesehatan digital via Mobile JKN</a:t>
            </a:r>
            <a:endParaRPr lang="en-US" sz="1000" dirty="0"/>
          </a:p>
          <a:p>
            <a:pPr algn="l" marL="95250" indent="-9525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SATUSEHAT Rujukan + SIRANAP (geotagging)</a:t>
            </a:r>
            <a:endParaRPr lang="en-US" sz="1000" dirty="0"/>
          </a:p>
          <a:p>
            <a:pPr algn="l" marL="95250" indent="-9525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Siskohatkes Haji 2026 terintegrasi SATUSEHAT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356050" y="460177"/>
          <a:ext cx="4279999" cy="385792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441252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Evolusi Strategi: Dari Menghubungkan ke Memanfaatkan</a:t>
            </a:r>
            <a:endParaRPr lang="en-US" sz="3200" dirty="0"/>
          </a:p>
        </p:txBody>
      </p:sp>
      <p:pic>
        <p:nvPicPr>
          <p:cNvPr id="4" name="Image 0" descr="/Users/ahmadhidayat/claude-code/projects/webinar-transformasi-digital-kesehatan/assets/transformation-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998613"/>
            <a:ext cx="8128099" cy="203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96556" y="4348014"/>
            <a:ext cx="55507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strategis dari CONNECTIVITY ke CAPABILITY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26852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01501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Bagian 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624334"/>
            <a:ext cx="8128099" cy="948928"/>
          </a:xfrm>
          <a:prstGeom prst="roundRect">
            <a:avLst>
              <a:gd name="adj" fmla="val 1070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624334"/>
            <a:ext cx="0" cy="948928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521" y="941636"/>
            <a:ext cx="362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14127" y="1022598"/>
            <a:ext cx="19471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kebijakan tetap kuat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1649462"/>
            <a:ext cx="8128099" cy="948928"/>
          </a:xfrm>
          <a:prstGeom prst="roundRect">
            <a:avLst>
              <a:gd name="adj" fmla="val 1070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1649462"/>
            <a:ext cx="0" cy="948928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521" y="1966764"/>
            <a:ext cx="362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14127" y="2047726"/>
            <a:ext cx="2113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konkret terus berjalan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950" y="2674590"/>
            <a:ext cx="8128099" cy="1006078"/>
          </a:xfrm>
          <a:prstGeom prst="roundRect">
            <a:avLst>
              <a:gd name="adj" fmla="val 1009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1763" y="2674590"/>
            <a:ext cx="0" cy="1006078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521" y="2991892"/>
            <a:ext cx="362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4127" y="3101429"/>
            <a:ext cx="2252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operasional signifikan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6669" y="3782169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Perlu strategi mitigasi yang tepat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Dimensi Tantangan Keberlanjutan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946696"/>
            <a:ext cx="3968800" cy="498277"/>
          </a:xfrm>
          <a:prstGeom prst="roundRect">
            <a:avLst>
              <a:gd name="adj" fmla="val 2039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451" y="1030784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8514" y="1095821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6502" y="1124396"/>
            <a:ext cx="1705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&amp; Konektivitas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508373"/>
            <a:ext cx="3968800" cy="498277"/>
          </a:xfrm>
          <a:prstGeom prst="roundRect">
            <a:avLst>
              <a:gd name="adj" fmla="val 2039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451" y="1592461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8514" y="1657499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6502" y="1686074"/>
            <a:ext cx="13820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Daya Manusia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070050"/>
            <a:ext cx="3968800" cy="498277"/>
          </a:xfrm>
          <a:prstGeom prst="roundRect">
            <a:avLst>
              <a:gd name="adj" fmla="val 2039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451" y="215413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8514" y="2219176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6502" y="2247751"/>
            <a:ext cx="19288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Interoperabilitas &amp; Data Quality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2631728"/>
            <a:ext cx="3968800" cy="498277"/>
          </a:xfrm>
          <a:prstGeom prst="roundRect">
            <a:avLst>
              <a:gd name="adj" fmla="val 2039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451" y="2715816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8514" y="2780854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6502" y="2809429"/>
            <a:ext cx="18281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Sustainabilitas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950" y="3193405"/>
            <a:ext cx="3968800" cy="498277"/>
          </a:xfrm>
          <a:prstGeom prst="roundRect">
            <a:avLst>
              <a:gd name="adj" fmla="val 2039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9451" y="327749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8514" y="3342531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6502" y="3371106"/>
            <a:ext cx="11301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Ekosistem Inovasi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Kesenjangan Infrastruktur yang Masih Lebar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053852"/>
            <a:ext cx="331617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#1: Infrastruktur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437829"/>
            <a:ext cx="331617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7950" y="2082254"/>
            <a:ext cx="33161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Puskesmas belum terhubung internet baik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2380506"/>
            <a:ext cx="331617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7950" y="3024932"/>
            <a:ext cx="33161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Sekolah tanpa akses internet tetap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3361283"/>
            <a:ext cx="3251150" cy="27414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080"/>
              </a:lnSpc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Disparitas urban-rural tetap signifikan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2.500 desa vs 83.000+ desa total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949601" y="625376"/>
          <a:ext cx="4686449" cy="343867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20601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Literasi Digital dan Kapasitas Teknis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1594545"/>
            <a:ext cx="33161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#2: SDM dan Literasi Digital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896070"/>
            <a:ext cx="3251150" cy="751284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Literasi digital tenaga kesehatan belum merata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TTDK dengan personel terbatas vs kebutuhan meningkat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Resistensi perubahan di berbagai level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pelatihan &amp; sertifikasi belum terstandar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2748855"/>
            <a:ext cx="3251150" cy="317302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1763" y="2748855"/>
            <a:ext cx="0" cy="317302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076" y="2850356"/>
            <a:ext cx="30605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"Kunci transformasi = perubahan manajemen, bukan teknologi"</a:t>
            </a:r>
            <a:endParaRPr lang="en-US" sz="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949601" y="596801"/>
          <a:ext cx="4686449" cy="346724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20601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Collection to Data Quality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1565970"/>
            <a:ext cx="41453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#3: Interoperabilitas &amp; Kualitas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867495"/>
            <a:ext cx="4064050" cy="751284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sistem legacy dengan SATUSEHAT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ARSSI: Tantangan integrasi RME rumah sakit swasta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ganda, diagnosa tidak lengkap, SPO belum update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Fragmentasi data di tingkat sub-nasional (Kab/Kota)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2720280"/>
            <a:ext cx="4064050" cy="374452"/>
          </a:xfrm>
          <a:prstGeom prst="roundRect">
            <a:avLst>
              <a:gd name="adj" fmla="val 27133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0841" y="2821781"/>
            <a:ext cx="39382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Garbage In, Garbage Out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20601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 dan Keberlanjutan Finansial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1710035"/>
            <a:ext cx="3730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#4: Governance &amp; Sustainabilitas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2011561"/>
            <a:ext cx="3657600" cy="93910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Koordinasi multi-stakeholder yang kompleks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Desentralisasi vs standardisasi nasional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Ketergantungan donor eksternal (USAID)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perlindungan data pribadi belum komprehensif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belum terdemonstrasikan kuat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20601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Inovasi Digital Kesehatan: Potensi yang Belum Optimal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1803946"/>
            <a:ext cx="3730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#5: Ekosistem Inovasi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2105471"/>
            <a:ext cx="3657600" cy="751284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Sandbox belum berjalan optimal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healthtech berkembang isolated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Kapasitas R&amp;D kesehatan digital terbatas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Kolaborasi akademisi-industri-pemerintah belum terstruktur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20601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Risiko: Transformasi Digital Memperlebar Kesenjangan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1474143"/>
            <a:ext cx="8128099" cy="1128415"/>
          </a:xfrm>
          <a:prstGeom prst="roundRect">
            <a:avLst>
              <a:gd name="adj" fmla="val 9004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1474143"/>
            <a:ext cx="0" cy="1128415"/>
          </a:xfrm>
          <a:prstGeom prst="line">
            <a:avLst/>
          </a:prstGeom>
          <a:noFill/>
          <a:ln w="571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5600" y="1601093"/>
            <a:ext cx="7843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Divide &amp; Equity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5600" y="1912144"/>
            <a:ext cx="7689949" cy="51271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Populasi vulnerable: lansia, pendidikan rendah, wilayah terpencil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concerns dapat menurunkan trust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bias dalam AI/ML kesehatan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2729508"/>
            <a:ext cx="8128099" cy="457200"/>
          </a:xfrm>
          <a:prstGeom prst="roundRect">
            <a:avLst>
              <a:gd name="adj" fmla="val 27778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2117" y="2881908"/>
            <a:ext cx="7979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Imperatif: Digital transformation must be inclusive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CONNECTIVITY TO CAPABILITY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638175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 Keberlanjutan Transformasi Digital Kesehatan</a:t>
            </a:r>
            <a:endParaRPr lang="en-US" sz="1400" dirty="0"/>
          </a:p>
        </p:txBody>
      </p:sp>
      <p:pic>
        <p:nvPicPr>
          <p:cNvPr id="5" name="Image 0" descr="/Users/ahmadhidayat/claude-code/projects/webinar-transformasi-digital-kesehatan/assets/phase-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259979"/>
            <a:ext cx="8127950" cy="27092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 2025-2026: Stabilisasi dan Penguatan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625376"/>
            <a:ext cx="4000500" cy="1655862"/>
          </a:xfrm>
          <a:prstGeom prst="roundRect">
            <a:avLst>
              <a:gd name="adj" fmla="val 767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625376"/>
            <a:ext cx="0" cy="1655862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752326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1503" y="822127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2051" y="1234827"/>
            <a:ext cx="37632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Penguatan Kapasitas TTDK/Pusdatin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2051" y="1469678"/>
            <a:ext cx="3763238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Rekrutmen talenta digital, partnership dengan akademik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35401" y="625376"/>
            <a:ext cx="4000649" cy="1655862"/>
          </a:xfrm>
          <a:prstGeom prst="roundRect">
            <a:avLst>
              <a:gd name="adj" fmla="val 767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3976" y="625376"/>
            <a:ext cx="0" cy="1655862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9501" y="752326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8953" y="822127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19501" y="1234827"/>
            <a:ext cx="37633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Percepatan Konektivitas Puskesmas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19501" y="1469678"/>
            <a:ext cx="3763390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Alokasi khusus 2.000 Puskesmas prioritas, subsidi daerah 3T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950" y="2408188"/>
            <a:ext cx="4000500" cy="1655862"/>
          </a:xfrm>
          <a:prstGeom prst="roundRect">
            <a:avLst>
              <a:gd name="adj" fmla="val 767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6525" y="2408188"/>
            <a:ext cx="0" cy="1655862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051" y="253513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31503" y="2604939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2051" y="3017639"/>
            <a:ext cx="37632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Operasionalisasi Regulatory Sandbox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2051" y="3252490"/>
            <a:ext cx="3763238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Fast-track inovasi healthtech, pathway integrasi SATUSEHAT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35401" y="2408188"/>
            <a:ext cx="4000649" cy="1655862"/>
          </a:xfrm>
          <a:prstGeom prst="roundRect">
            <a:avLst>
              <a:gd name="adj" fmla="val 767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63976" y="2408188"/>
            <a:ext cx="0" cy="1655862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9501" y="253513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58953" y="2604939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19501" y="3017639"/>
            <a:ext cx="37633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Blitz Campaign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9501" y="3252490"/>
            <a:ext cx="3763390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intensif + training, automated validation rules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Infrastruktur ke Kemampuan: 4 Pilar Capability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625376"/>
            <a:ext cx="4000500" cy="1655862"/>
          </a:xfrm>
          <a:prstGeom prst="roundRect">
            <a:avLst>
              <a:gd name="adj" fmla="val 767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653951"/>
            <a:ext cx="4000500" cy="0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901" y="809476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DIGITAL LITERACY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057126"/>
            <a:ext cx="3746599" cy="109716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9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training untuk tenaga kesehatan</a:t>
            </a:r>
            <a:endParaRPr lang="en-US" sz="800" dirty="0"/>
          </a:p>
          <a:p>
            <a:pPr algn="l" marL="95250" indent="-95250">
              <a:lnSpc>
                <a:spcPts val="9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Sertifikasi kompetensi digital</a:t>
            </a:r>
            <a:endParaRPr lang="en-US" sz="800" dirty="0"/>
          </a:p>
          <a:p>
            <a:pPr algn="l" marL="95250" indent="-95250">
              <a:lnSpc>
                <a:spcPts val="9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professional development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35401" y="625376"/>
            <a:ext cx="4000649" cy="1655862"/>
          </a:xfrm>
          <a:prstGeom prst="roundRect">
            <a:avLst>
              <a:gd name="adj" fmla="val 767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35401" y="653951"/>
            <a:ext cx="4000649" cy="0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2351" y="809476"/>
            <a:ext cx="3821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EXCELLENCE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351" y="1057126"/>
            <a:ext cx="3746748" cy="109716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9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assurance framework</a:t>
            </a:r>
            <a:endParaRPr lang="en-US" sz="800" dirty="0"/>
          </a:p>
          <a:p>
            <a:pPr algn="l" marL="95250" indent="-95250">
              <a:lnSpc>
                <a:spcPts val="9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 &amp; AI deployment</a:t>
            </a:r>
            <a:endParaRPr lang="en-US" sz="800" dirty="0"/>
          </a:p>
          <a:p>
            <a:pPr algn="l" marL="95250" indent="-95250">
              <a:lnSpc>
                <a:spcPts val="9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collaboration untuk innovation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2408188"/>
            <a:ext cx="4000500" cy="1655862"/>
          </a:xfrm>
          <a:prstGeom prst="roundRect">
            <a:avLst>
              <a:gd name="adj" fmla="val 767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7950" y="2436763"/>
            <a:ext cx="4000500" cy="0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901" y="2592288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SUSTAINABLE FINANCING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901" y="2839938"/>
            <a:ext cx="3746599" cy="109716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9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Diversifikasi pendanaan (APBN + PPP)</a:t>
            </a:r>
            <a:endParaRPr lang="en-US" sz="800" dirty="0"/>
          </a:p>
          <a:p>
            <a:pPr algn="l" marL="95250" indent="-95250">
              <a:lnSpc>
                <a:spcPts val="9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demonstration untuk justifikasi investasi</a:t>
            </a:r>
            <a:endParaRPr lang="en-US" sz="800" dirty="0"/>
          </a:p>
          <a:p>
            <a:pPr algn="l" marL="95250" indent="-95250">
              <a:lnSpc>
                <a:spcPts val="9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Self-financing model jangka panjang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35401" y="2408188"/>
            <a:ext cx="4000649" cy="1655862"/>
          </a:xfrm>
          <a:prstGeom prst="roundRect">
            <a:avLst>
              <a:gd name="adj" fmla="val 767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35401" y="2436763"/>
            <a:ext cx="4000649" cy="0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2351" y="2592288"/>
            <a:ext cx="3821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INNOVATION ECOSYSTEM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62351" y="2839938"/>
            <a:ext cx="3746748" cy="109716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9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sandbox yang efektif</a:t>
            </a:r>
            <a:endParaRPr lang="en-US" sz="800" dirty="0"/>
          </a:p>
          <a:p>
            <a:pPr algn="l" marL="95250" indent="-95250">
              <a:lnSpc>
                <a:spcPts val="9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acceleration program</a:t>
            </a:r>
            <a:endParaRPr lang="en-US" sz="800" dirty="0"/>
          </a:p>
          <a:p>
            <a:pPr algn="l" marL="95250" indent="-95250">
              <a:lnSpc>
                <a:spcPts val="960"/>
              </a:lnSpc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Digital Health Research Center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6326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 2029 dan Beyond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300163"/>
            <a:ext cx="8128099" cy="1593800"/>
          </a:xfrm>
          <a:prstGeom prst="roundRect">
            <a:avLst>
              <a:gd name="adj" fmla="val 9562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0979" y="1490663"/>
            <a:ext cx="79020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sebagai Digital Health Leader 2029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8450" y="1855738"/>
            <a:ext cx="7747099" cy="78432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health coverage powered by data</a:t>
            </a:r>
            <a:endParaRPr lang="en-US" sz="900" dirty="0"/>
          </a:p>
          <a:p>
            <a:pPr algn="l" marL="127000" indent="-1270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precision medicine untuk 270 juta rakyat</a:t>
            </a:r>
            <a:endParaRPr lang="en-US" sz="900" dirty="0"/>
          </a:p>
          <a:p>
            <a:pPr algn="l" marL="127000" indent="-1270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digital health hub</a:t>
            </a:r>
            <a:endParaRPr lang="en-US" sz="900" dirty="0"/>
          </a:p>
          <a:p>
            <a:pPr algn="l" marL="127000" indent="-127000">
              <a:lnSpc>
                <a:spcPts val="117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innovation ecosystem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3020913"/>
            <a:ext cx="8128099" cy="425351"/>
          </a:xfrm>
          <a:prstGeom prst="roundRect">
            <a:avLst>
              <a:gd name="adj" fmla="val 2985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6159" y="3147864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Sehat menuju Indonesia Emas 2045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3976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CONNECTIVITY TO CAPABILITY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555575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i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Bukan Tentang Teknologi, Tetapi Tentang Kemampuan Kita Menggunakannya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930176"/>
            <a:ext cx="3968800" cy="2851547"/>
          </a:xfrm>
          <a:prstGeom prst="roundRect">
            <a:avLst>
              <a:gd name="adj" fmla="val 4454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6525" y="930176"/>
            <a:ext cx="0" cy="2851547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500" y="1082576"/>
            <a:ext cx="36789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built the CONNECTIVITY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7500" y="1393627"/>
            <a:ext cx="3606850" cy="223569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08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SATUSEHAT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&amp; interoperabilitas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infrastructure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7250" y="930176"/>
            <a:ext cx="3968800" cy="2851547"/>
          </a:xfrm>
          <a:prstGeom prst="roundRect">
            <a:avLst>
              <a:gd name="adj" fmla="val 4454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95825" y="930176"/>
            <a:ext cx="0" cy="2851547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6800" y="1082576"/>
            <a:ext cx="36789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we must build the CAPABILITY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76800" y="1393627"/>
            <a:ext cx="3606850" cy="223569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08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&amp; skills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utilization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culture</a:t>
            </a:r>
            <a:endParaRPr lang="en-US" sz="900" dirty="0"/>
          </a:p>
          <a:p>
            <a:pPr algn="l" marL="95250" indent="-95250">
              <a:lnSpc>
                <a:spcPts val="108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ecosystem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0" y="4797623"/>
            <a:ext cx="9144000" cy="345877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6669" y="4899124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 is solid. The vision is clear. The time to act is NOW.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Transformasi Digital Kesehatan Indonesia</dc:title>
  <dc:subject>Webinar: Implementasi Transformasi Digital Kesehatan</dc:subject>
  <dc:creator>dr. Ahmad Hidayat, M.Sc., MBA</dc:creator>
  <cp:lastModifiedBy>dr. Ahmad Hidayat, M.Sc., MBA</cp:lastModifiedBy>
  <cp:revision>1</cp:revision>
  <dcterms:created xsi:type="dcterms:W3CDTF">2026-01-08T02:44:32Z</dcterms:created>
  <dcterms:modified xsi:type="dcterms:W3CDTF">2026-01-08T02:44:32Z</dcterms:modified>
</cp:coreProperties>
</file>